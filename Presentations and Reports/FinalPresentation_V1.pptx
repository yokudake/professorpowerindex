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69" r:id="rId3"/>
    <p:sldId id="261" r:id="rId4"/>
    <p:sldId id="265" r:id="rId5"/>
    <p:sldId id="266" r:id="rId6"/>
    <p:sldId id="267" r:id="rId7"/>
    <p:sldId id="268" r:id="rId8"/>
    <p:sldId id="264" r:id="rId9"/>
    <p:sldId id="262" r:id="rId10"/>
    <p:sldId id="263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D3F19A-16E4-489E-B2B0-D7F8FC5D03C0}">
          <p14:sldIdLst>
            <p14:sldId id="256"/>
          </p14:sldIdLst>
        </p14:section>
        <p14:section name="Evaluating Models" id="{E04533C1-A84C-4883-954F-B9A2CF0C89FE}">
          <p14:sldIdLst>
            <p14:sldId id="269"/>
            <p14:sldId id="261"/>
            <p14:sldId id="265"/>
            <p14:sldId id="266"/>
            <p14:sldId id="267"/>
            <p14:sldId id="268"/>
            <p14:sldId id="264"/>
            <p14:sldId id="262"/>
            <p14:sldId id="263"/>
          </p14:sldIdLst>
        </p14:section>
        <p14:section name="Summary Slide" id="{63161CEF-6248-4FBA-AB91-B8116734237C}">
          <p14:sldIdLst>
            <p14:sldId id="26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8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9BBB2-5F9E-40CC-96E3-7A9E86D62A01}" type="datetimeFigureOut">
              <a:rPr lang="en-CA" smtClean="0"/>
              <a:t>2023-04-10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57BCFE-4962-4276-BE9E-AB70225B7E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5495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3751B-3236-4DDE-9D3B-81EB14B20B81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953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FCF961-9008-4F93-84DC-50890D6D3A8B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2470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80AB5-B432-431B-830A-44CC065C49EB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3534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76D73-3994-4E64-9697-49BFFE743E1B}" type="datetime1">
              <a:rPr lang="en-CA" smtClean="0"/>
              <a:t>2023-04-10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790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EA7D3-51FA-457A-B09E-B83050F26F30}" type="datetime1">
              <a:rPr lang="en-CA" smtClean="0"/>
              <a:t>2023-04-10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3994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CBE397-F8C0-42BF-8422-C8231C1A0857}" type="datetime1">
              <a:rPr lang="en-CA" smtClean="0"/>
              <a:t>2023-04-10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99915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98962-C234-48DE-98CC-E40CBDE06232}" type="datetime1">
              <a:rPr lang="en-CA" smtClean="0"/>
              <a:t>2023-04-10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12369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4EDC-B589-43A7-A1C6-63DDC76A4076}" type="datetime1">
              <a:rPr lang="en-CA" smtClean="0"/>
              <a:t>2023-04-10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4870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2B853B-001E-4149-B9D3-7457064453D3}" type="datetime1">
              <a:rPr lang="en-CA" smtClean="0"/>
              <a:t>2023-04-10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0174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F981-D8AE-4B29-9A43-EE10454FDF2D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4834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C259B-1580-45F9-BB67-980F35894EFB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478025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06A4B-E754-4492-934A-F5CC416DF535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6359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C36EB-A4F6-45DC-A041-4D57BA65D9DF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513917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8005C-BF89-4D17-859F-30FEDCF69190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894074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25C9B-06C4-4E5A-8912-16158A33EBAA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5487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D11-3F47-4298-B391-E269ECBD39BC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1077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785E88-54B3-4FF5-AAC5-C0EF1EDC9F24}" type="datetime1">
              <a:rPr lang="en-CA" smtClean="0"/>
              <a:t>2023-04-10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83C90D1-AD4B-442F-A893-0023CEF97D6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05774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B66A5-CFAA-FF27-2A05-1A30C2A04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AE8C3A-DA6B-CBEE-3A78-7EF60C2B3E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E80D0-F012-F1C9-CD71-21414BA01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5735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0E39E65-E39F-5C91-10B6-D5DD43AD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2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409D96-D39D-CC13-8515-9C40081B605F}"/>
              </a:ext>
            </a:extLst>
          </p:cNvPr>
          <p:cNvSpPr txBox="1"/>
          <p:nvPr/>
        </p:nvSpPr>
        <p:spPr>
          <a:xfrm>
            <a:off x="199698" y="1631576"/>
            <a:ext cx="839096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Approach: </a:t>
            </a:r>
            <a:r>
              <a:rPr lang="en-CA" dirty="0"/>
              <a:t>Analyze performance of each model separately and explore opportunities for optimizing their performance. </a:t>
            </a:r>
          </a:p>
          <a:p>
            <a:endParaRPr lang="en-CA" dirty="0"/>
          </a:p>
          <a:p>
            <a:r>
              <a:rPr lang="en-CA" b="1" dirty="0"/>
              <a:t>Scoring Metrics:</a:t>
            </a:r>
          </a:p>
          <a:p>
            <a:endParaRPr lang="en-CA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Training/Validation Accuracy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Training/Validation Weighted Precision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03425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475" y="1880118"/>
            <a:ext cx="2161359" cy="396357"/>
          </a:xfrm>
          <a:prstGeom prst="rect">
            <a:avLst/>
          </a:prstGeom>
        </p:spPr>
      </p:pic>
      <p:pic>
        <p:nvPicPr>
          <p:cNvPr id="20" name="Picture 19" descr="A picture containing bar chart&#10;&#10;Description automatically generated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50" y="1828790"/>
            <a:ext cx="5029210" cy="5029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D3D6041-190D-6FD1-A24A-E329520E1D6A}"/>
              </a:ext>
            </a:extLst>
          </p:cNvPr>
          <p:cNvSpPr txBox="1"/>
          <p:nvPr/>
        </p:nvSpPr>
        <p:spPr>
          <a:xfrm>
            <a:off x="5228593" y="1520811"/>
            <a:ext cx="4447252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800" dirty="0"/>
              <a:t>For any model, accuracy</a:t>
            </a:r>
            <a:r>
              <a:rPr lang="en-CA" sz="2800" b="1" dirty="0"/>
              <a:t> </a:t>
            </a:r>
            <a:r>
              <a:rPr lang="en-CA" sz="2800" dirty="0"/>
              <a:t>or precision </a:t>
            </a:r>
            <a:r>
              <a:rPr lang="en-CA" sz="2800" b="1" dirty="0"/>
              <a:t>could not exceed 56%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800" dirty="0"/>
              <a:t>Weighted precision and accuracy scores agree with results from Custom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b="1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0E39E65-E39F-5C91-10B6-D5DD43AD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4131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866" y="1516185"/>
            <a:ext cx="2161359" cy="3963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665" y="1851620"/>
            <a:ext cx="4708928" cy="4708928"/>
          </a:xfrm>
          <a:prstGeom prst="rect">
            <a:avLst/>
          </a:prstGeom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0E39E65-E39F-5C91-10B6-D5DD43AD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4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0E88D8-0C73-7F42-6C3D-081FA027F947}"/>
              </a:ext>
            </a:extLst>
          </p:cNvPr>
          <p:cNvSpPr txBox="1"/>
          <p:nvPr/>
        </p:nvSpPr>
        <p:spPr>
          <a:xfrm>
            <a:off x="5228593" y="1520811"/>
            <a:ext cx="44472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1190086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866" y="1516185"/>
            <a:ext cx="2161359" cy="3963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665" y="1851620"/>
            <a:ext cx="4708928" cy="4708928"/>
          </a:xfrm>
          <a:prstGeom prst="rect">
            <a:avLst/>
          </a:prstGeom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0E39E65-E39F-5C91-10B6-D5DD43AD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5</a:t>
            </a:fld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E8B7B1-88BC-AF87-500A-070E9ED41D50}"/>
              </a:ext>
            </a:extLst>
          </p:cNvPr>
          <p:cNvSpPr txBox="1"/>
          <p:nvPr/>
        </p:nvSpPr>
        <p:spPr>
          <a:xfrm>
            <a:off x="5228593" y="1520811"/>
            <a:ext cx="4447252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800" dirty="0"/>
              <a:t>Most scores are </a:t>
            </a:r>
            <a:r>
              <a:rPr lang="en-CA" sz="2800" i="1" dirty="0"/>
              <a:t>underfitted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4A8325-2BEB-5F9F-E8AF-6AE3846E7C57}"/>
              </a:ext>
            </a:extLst>
          </p:cNvPr>
          <p:cNvCxnSpPr>
            <a:cxnSpLocks/>
          </p:cNvCxnSpPr>
          <p:nvPr/>
        </p:nvCxnSpPr>
        <p:spPr>
          <a:xfrm flipH="1">
            <a:off x="5076827" y="3334871"/>
            <a:ext cx="1019173" cy="17219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8099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866" y="1516185"/>
            <a:ext cx="2161359" cy="3963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665" y="1851620"/>
            <a:ext cx="4708928" cy="4708928"/>
          </a:xfrm>
          <a:prstGeom prst="rect">
            <a:avLst/>
          </a:prstGeom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0E39E65-E39F-5C91-10B6-D5DD43AD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6</a:t>
            </a:fld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E8B7B1-88BC-AF87-500A-070E9ED41D50}"/>
              </a:ext>
            </a:extLst>
          </p:cNvPr>
          <p:cNvSpPr txBox="1"/>
          <p:nvPr/>
        </p:nvSpPr>
        <p:spPr>
          <a:xfrm>
            <a:off x="5228593" y="1520811"/>
            <a:ext cx="4447252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800" dirty="0"/>
              <a:t>Most scores are </a:t>
            </a:r>
            <a:r>
              <a:rPr lang="en-CA" sz="2800" i="1" dirty="0"/>
              <a:t>underfitted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800" dirty="0"/>
              <a:t>Few Scores are </a:t>
            </a:r>
            <a:r>
              <a:rPr lang="en-CA" sz="2800" i="1" dirty="0"/>
              <a:t>overfitted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b="1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C1EE32C-2F5D-877A-E75B-2872F685465D}"/>
              </a:ext>
            </a:extLst>
          </p:cNvPr>
          <p:cNvCxnSpPr>
            <a:cxnSpLocks/>
          </p:cNvCxnSpPr>
          <p:nvPr/>
        </p:nvCxnSpPr>
        <p:spPr>
          <a:xfrm flipH="1">
            <a:off x="4512050" y="3711388"/>
            <a:ext cx="1458444" cy="10464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276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866" y="1516185"/>
            <a:ext cx="2161359" cy="3963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665" y="1851620"/>
            <a:ext cx="4708928" cy="4708928"/>
          </a:xfrm>
          <a:prstGeom prst="rect">
            <a:avLst/>
          </a:prstGeom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0E39E65-E39F-5C91-10B6-D5DD43AD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7</a:t>
            </a:fld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E8B7B1-88BC-AF87-500A-070E9ED41D50}"/>
              </a:ext>
            </a:extLst>
          </p:cNvPr>
          <p:cNvSpPr txBox="1"/>
          <p:nvPr/>
        </p:nvSpPr>
        <p:spPr>
          <a:xfrm>
            <a:off x="5228593" y="1520811"/>
            <a:ext cx="444725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800" dirty="0"/>
              <a:t>Most scores are </a:t>
            </a:r>
            <a:r>
              <a:rPr lang="en-CA" sz="2800" i="1" dirty="0"/>
              <a:t>underfitted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800" dirty="0"/>
              <a:t>Few Scores are </a:t>
            </a:r>
            <a:r>
              <a:rPr lang="en-CA" sz="2800" i="1" dirty="0"/>
              <a:t>overfitted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800" b="1" dirty="0"/>
              <a:t>Differences Between Scores are Within 1.05%</a:t>
            </a:r>
            <a:endParaRPr lang="en-CA" sz="2800" b="1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FE55B57-F6B3-0727-F909-BC77EFD757CB}"/>
              </a:ext>
            </a:extLst>
          </p:cNvPr>
          <p:cNvCxnSpPr>
            <a:cxnSpLocks/>
          </p:cNvCxnSpPr>
          <p:nvPr/>
        </p:nvCxnSpPr>
        <p:spPr>
          <a:xfrm>
            <a:off x="2637793" y="3514165"/>
            <a:ext cx="0" cy="2527197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3138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475" y="1880118"/>
            <a:ext cx="2161359" cy="396357"/>
          </a:xfrm>
          <a:prstGeom prst="rect">
            <a:avLst/>
          </a:prstGeom>
        </p:spPr>
      </p:pic>
      <p:pic>
        <p:nvPicPr>
          <p:cNvPr id="20" name="Picture 19" descr="A picture containing bar chart&#10;&#10;Description automatically generated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50" y="1828790"/>
            <a:ext cx="5029210" cy="5029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D3D6041-190D-6FD1-A24A-E329520E1D6A}"/>
              </a:ext>
            </a:extLst>
          </p:cNvPr>
          <p:cNvSpPr txBox="1"/>
          <p:nvPr/>
        </p:nvSpPr>
        <p:spPr>
          <a:xfrm>
            <a:off x="5228593" y="1520811"/>
            <a:ext cx="4447252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800" dirty="0"/>
              <a:t>For any model, accuracy</a:t>
            </a:r>
            <a:r>
              <a:rPr lang="en-CA" sz="2800" b="1" dirty="0"/>
              <a:t> </a:t>
            </a:r>
            <a:r>
              <a:rPr lang="en-CA" sz="2800" dirty="0"/>
              <a:t>or precision </a:t>
            </a:r>
            <a:r>
              <a:rPr lang="en-CA" sz="2800" b="1" dirty="0"/>
              <a:t>could not exceed 56%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800" dirty="0"/>
              <a:t>Weighted precision and accuracy scores agree with results from Custom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b="1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0E39E65-E39F-5C91-10B6-D5DD43AD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2627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475" y="1880118"/>
            <a:ext cx="2161359" cy="3963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2350" y="1828790"/>
            <a:ext cx="5029210" cy="5029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D3D6041-190D-6FD1-A24A-E329520E1D6A}"/>
              </a:ext>
            </a:extLst>
          </p:cNvPr>
          <p:cNvSpPr txBox="1"/>
          <p:nvPr/>
        </p:nvSpPr>
        <p:spPr>
          <a:xfrm>
            <a:off x="5228593" y="1520811"/>
            <a:ext cx="444725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800" dirty="0"/>
              <a:t>Decision Tree &amp; Random Forest outperformed Logistic Regression &amp; KNN.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800" dirty="0"/>
              <a:t>Therefore, relationships between features is likely </a:t>
            </a:r>
            <a:r>
              <a:rPr lang="en-CA" sz="2800" i="1" dirty="0"/>
              <a:t>non-linear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CA72C5-DFB9-DCF6-E0FC-A17C3715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0077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B3693-1A79-34B5-944C-B789F8A7F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486" y="0"/>
            <a:ext cx="7357336" cy="15161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Evaluating Models</a:t>
            </a:r>
          </a:p>
        </p:txBody>
      </p:sp>
      <p:pic>
        <p:nvPicPr>
          <p:cNvPr id="18" name="Picture 17" descr="A picture containing chart&#10;&#10;Description automatically generated">
            <a:extLst>
              <a:ext uri="{FF2B5EF4-FFF2-40B4-BE49-F238E27FC236}">
                <a16:creationId xmlns:a16="http://schemas.microsoft.com/office/drawing/2014/main" id="{B3512374-9F7B-B2E8-0C5A-C35697E51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475" y="1880118"/>
            <a:ext cx="2161359" cy="3963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D35B9C-9E4D-5FB5-2DAD-ED946E6E3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2350" y="1828790"/>
            <a:ext cx="5029210" cy="5029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D3D6041-190D-6FD1-A24A-E329520E1D6A}"/>
              </a:ext>
            </a:extLst>
          </p:cNvPr>
          <p:cNvSpPr txBox="1"/>
          <p:nvPr/>
        </p:nvSpPr>
        <p:spPr>
          <a:xfrm>
            <a:off x="5228593" y="1520811"/>
            <a:ext cx="444725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b="1" u="sng" dirty="0"/>
              <a:t>General Findings</a:t>
            </a:r>
          </a:p>
          <a:p>
            <a:pPr algn="ctr"/>
            <a:endParaRPr lang="en-CA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800" dirty="0"/>
              <a:t>Random Forest has higher accuracy than Decision Trees between 0.96-3.7%.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800" dirty="0"/>
              <a:t>Improved accuracy likely due to reduced outlier sensitivity.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CA72C5-DFB9-DCF6-E0FC-A17C3715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10</a:t>
            </a:fld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5CDF026-E2C8-DE34-9CD5-116D3716BACE}"/>
              </a:ext>
            </a:extLst>
          </p:cNvPr>
          <p:cNvCxnSpPr/>
          <p:nvPr/>
        </p:nvCxnSpPr>
        <p:spPr>
          <a:xfrm>
            <a:off x="1744910" y="3112316"/>
            <a:ext cx="0" cy="292904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24D7DEE-428E-0930-A467-B20038F5E820}"/>
              </a:ext>
            </a:extLst>
          </p:cNvPr>
          <p:cNvSpPr txBox="1"/>
          <p:nvPr/>
        </p:nvSpPr>
        <p:spPr>
          <a:xfrm>
            <a:off x="1073791" y="4068661"/>
            <a:ext cx="671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3.7%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5FBEFF-B50B-0806-419C-AD3B907A7961}"/>
              </a:ext>
            </a:extLst>
          </p:cNvPr>
          <p:cNvCxnSpPr>
            <a:cxnSpLocks/>
          </p:cNvCxnSpPr>
          <p:nvPr/>
        </p:nvCxnSpPr>
        <p:spPr>
          <a:xfrm>
            <a:off x="3071769" y="3290526"/>
            <a:ext cx="0" cy="82889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2457947-3E70-76E2-FF48-75B47A3F7989}"/>
              </a:ext>
            </a:extLst>
          </p:cNvPr>
          <p:cNvCxnSpPr>
            <a:cxnSpLocks/>
          </p:cNvCxnSpPr>
          <p:nvPr/>
        </p:nvCxnSpPr>
        <p:spPr>
          <a:xfrm>
            <a:off x="4414007" y="3197713"/>
            <a:ext cx="0" cy="1862528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9E8B56-DD6E-3DA8-DFA7-5F4E180FECF4}"/>
              </a:ext>
            </a:extLst>
          </p:cNvPr>
          <p:cNvSpPr txBox="1"/>
          <p:nvPr/>
        </p:nvSpPr>
        <p:spPr>
          <a:xfrm>
            <a:off x="2331346" y="3437615"/>
            <a:ext cx="839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0.96%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C278DE-CCAD-11C4-6AF9-04132D4E4ADC}"/>
              </a:ext>
            </a:extLst>
          </p:cNvPr>
          <p:cNvSpPr txBox="1"/>
          <p:nvPr/>
        </p:nvSpPr>
        <p:spPr>
          <a:xfrm>
            <a:off x="3726281" y="4051883"/>
            <a:ext cx="839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2.3%</a:t>
            </a:r>
          </a:p>
        </p:txBody>
      </p:sp>
    </p:spTree>
    <p:extLst>
      <p:ext uri="{BB962C8B-B14F-4D97-AF65-F5344CB8AC3E}">
        <p14:creationId xmlns:p14="http://schemas.microsoft.com/office/powerpoint/2010/main" val="3122938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C75D85-F352-38EB-5CAE-03D7064D8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C90D1-AD4B-442F-A893-0023CEF97D6F}" type="slidenum">
              <a:rPr lang="en-CA" smtClean="0"/>
              <a:t>11</a:t>
            </a:fld>
            <a:endParaRPr lang="en-CA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905FE1E-A8D3-7A58-C7AD-C340A041EC9C}"/>
              </a:ext>
            </a:extLst>
          </p:cNvPr>
          <p:cNvSpPr txBox="1">
            <a:spLocks/>
          </p:cNvSpPr>
          <p:nvPr/>
        </p:nvSpPr>
        <p:spPr>
          <a:xfrm>
            <a:off x="186486" y="0"/>
            <a:ext cx="7357336" cy="15161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800" dirty="0">
                <a:solidFill>
                  <a:schemeClr val="tx1"/>
                </a:solidFill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71360790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131</TotalTime>
  <Words>192</Words>
  <Application>Microsoft Office PowerPoint</Application>
  <PresentationFormat>Widescreen</PresentationFormat>
  <Paragraphs>61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Trebuchet MS</vt:lpstr>
      <vt:lpstr>Wingdings 3</vt:lpstr>
      <vt:lpstr>Facet</vt:lpstr>
      <vt:lpstr>PowerPoint Presentation</vt:lpstr>
      <vt:lpstr>Evaluating Models</vt:lpstr>
      <vt:lpstr>Evaluating Models</vt:lpstr>
      <vt:lpstr>Evaluating Models</vt:lpstr>
      <vt:lpstr>Evaluating Models</vt:lpstr>
      <vt:lpstr>Evaluating Models</vt:lpstr>
      <vt:lpstr>Evaluating Models</vt:lpstr>
      <vt:lpstr>Evaluating Models</vt:lpstr>
      <vt:lpstr>Evaluating Models</vt:lpstr>
      <vt:lpstr>Evaluating Models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Austin Bray</dc:creator>
  <cp:lastModifiedBy>Austin Bray</cp:lastModifiedBy>
  <cp:revision>7</cp:revision>
  <dcterms:created xsi:type="dcterms:W3CDTF">2023-04-10T18:29:09Z</dcterms:created>
  <dcterms:modified xsi:type="dcterms:W3CDTF">2023-04-10T20:40:12Z</dcterms:modified>
</cp:coreProperties>
</file>