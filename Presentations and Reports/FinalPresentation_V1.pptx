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77" r:id="rId3"/>
    <p:sldId id="279" r:id="rId4"/>
    <p:sldId id="280" r:id="rId5"/>
    <p:sldId id="272" r:id="rId6"/>
    <p:sldId id="274" r:id="rId7"/>
    <p:sldId id="269" r:id="rId8"/>
    <p:sldId id="275" r:id="rId9"/>
    <p:sldId id="276" r:id="rId10"/>
    <p:sldId id="261" r:id="rId11"/>
    <p:sldId id="265" r:id="rId12"/>
    <p:sldId id="266" r:id="rId13"/>
    <p:sldId id="267" r:id="rId14"/>
    <p:sldId id="268" r:id="rId15"/>
    <p:sldId id="264" r:id="rId16"/>
    <p:sldId id="262" r:id="rId17"/>
    <p:sldId id="263" r:id="rId18"/>
    <p:sldId id="26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D3F19A-16E4-489E-B2B0-D7F8FC5D03C0}">
          <p14:sldIdLst>
            <p14:sldId id="256"/>
          </p14:sldIdLst>
        </p14:section>
        <p14:section name="Motivation &amp; Background" id="{A37E43A8-F445-46BC-8506-F113BA736BA5}">
          <p14:sldIdLst>
            <p14:sldId id="277"/>
            <p14:sldId id="279"/>
            <p14:sldId id="280"/>
          </p14:sldIdLst>
        </p14:section>
        <p14:section name="Defining Target Variable" id="{535C0DD9-9B7B-4736-849D-AFCADC8528C9}">
          <p14:sldIdLst>
            <p14:sldId id="272"/>
            <p14:sldId id="274"/>
          </p14:sldIdLst>
        </p14:section>
        <p14:section name="Evaluating Models" id="{E04533C1-A84C-4883-954F-B9A2CF0C89FE}">
          <p14:sldIdLst>
            <p14:sldId id="269"/>
            <p14:sldId id="275"/>
            <p14:sldId id="276"/>
            <p14:sldId id="261"/>
            <p14:sldId id="265"/>
            <p14:sldId id="266"/>
            <p14:sldId id="267"/>
            <p14:sldId id="268"/>
            <p14:sldId id="264"/>
            <p14:sldId id="262"/>
            <p14:sldId id="263"/>
          </p14:sldIdLst>
        </p14:section>
        <p14:section name="Summary Slide" id="{63161CEF-6248-4FBA-AB91-B8116734237C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9BBB2-5F9E-40CC-96E3-7A9E86D62A01}" type="datetimeFigureOut">
              <a:rPr lang="en-CA" smtClean="0"/>
              <a:t>2023-04-10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57BCFE-4962-4276-BE9E-AB70225B7EF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5495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3751B-3236-4DDE-9D3B-81EB14B20B81}" type="datetime1">
              <a:rPr lang="en-CA" smtClean="0"/>
              <a:t>2023-04-10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9534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CF961-9008-4F93-84DC-50890D6D3A8B}" type="datetime1">
              <a:rPr lang="en-CA" smtClean="0"/>
              <a:t>2023-04-10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2470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80AB5-B432-431B-830A-44CC065C49EB}" type="datetime1">
              <a:rPr lang="en-CA" smtClean="0"/>
              <a:t>2023-04-10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353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76D73-3994-4E64-9697-49BFFE743E1B}" type="datetime1">
              <a:rPr lang="en-CA" smtClean="0"/>
              <a:t>2023-04-10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790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EA7D3-51FA-457A-B09E-B83050F26F30}" type="datetime1">
              <a:rPr lang="en-CA" smtClean="0"/>
              <a:t>2023-04-10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3994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BE397-F8C0-42BF-8422-C8231C1A0857}" type="datetime1">
              <a:rPr lang="en-CA" smtClean="0"/>
              <a:t>2023-04-10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9915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98962-C234-48DE-98CC-E40CBDE06232}" type="datetime1">
              <a:rPr lang="en-CA" smtClean="0"/>
              <a:t>2023-04-10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2369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54EDC-B589-43A7-A1C6-63DDC76A4076}" type="datetime1">
              <a:rPr lang="en-CA" smtClean="0"/>
              <a:t>2023-04-10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4870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B853B-001E-4149-B9D3-7457064453D3}" type="datetime1">
              <a:rPr lang="en-CA" smtClean="0"/>
              <a:t>2023-04-10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0174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F981-D8AE-4B29-9A43-EE10454FDF2D}" type="datetime1">
              <a:rPr lang="en-CA" smtClean="0"/>
              <a:t>2023-04-10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4834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C259B-1580-45F9-BB67-980F35894EFB}" type="datetime1">
              <a:rPr lang="en-CA" smtClean="0"/>
              <a:t>2023-04-10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7802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06A4B-E754-4492-934A-F5CC416DF535}" type="datetime1">
              <a:rPr lang="en-CA" smtClean="0"/>
              <a:t>2023-04-10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635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C36EB-A4F6-45DC-A041-4D57BA65D9DF}" type="datetime1">
              <a:rPr lang="en-CA" smtClean="0"/>
              <a:t>2023-04-10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13917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8005C-BF89-4D17-859F-30FEDCF69190}" type="datetime1">
              <a:rPr lang="en-CA" smtClean="0"/>
              <a:t>2023-04-10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94074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25C9B-06C4-4E5A-8912-16158A33EBAA}" type="datetime1">
              <a:rPr lang="en-CA" smtClean="0"/>
              <a:t>2023-04-10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54875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7D11-3F47-4298-B391-E269ECBD39BC}" type="datetime1">
              <a:rPr lang="en-CA" smtClean="0"/>
              <a:t>2023-04-10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1077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85E88-54B3-4FF5-AAC5-C0EF1EDC9F24}" type="datetime1">
              <a:rPr lang="en-CA" smtClean="0"/>
              <a:t>2023-04-10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83C90D1-AD4B-442F-A893-0023CEF97D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577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B66A5-CFAA-FF27-2A05-1A30C2A04B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b="1" dirty="0">
                <a:solidFill>
                  <a:schemeClr val="tx1"/>
                </a:solidFill>
              </a:rPr>
              <a:t>Professor Power Index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E8C3A-DA6B-CBEE-3A78-7EF60C2B3E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Kelly-Marie </a:t>
            </a:r>
            <a:r>
              <a:rPr lang="en-CA" dirty="0" err="1"/>
              <a:t>Yokuda</a:t>
            </a:r>
            <a:endParaRPr lang="en-CA" dirty="0"/>
          </a:p>
          <a:p>
            <a:r>
              <a:rPr lang="en-CA" dirty="0"/>
              <a:t>April 11</a:t>
            </a:r>
            <a:r>
              <a:rPr lang="en-CA" baseline="30000" dirty="0"/>
              <a:t>th</a:t>
            </a:r>
            <a:r>
              <a:rPr lang="en-CA" dirty="0"/>
              <a:t>, 2023</a:t>
            </a:r>
          </a:p>
          <a:p>
            <a:r>
              <a:rPr lang="en-CA" dirty="0" err="1"/>
              <a:t>BrainStation</a:t>
            </a:r>
            <a:r>
              <a:rPr lang="en-CA" dirty="0"/>
              <a:t> Capstone Final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E80D0-F012-F1C9-CD71-21414BA0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1</a:t>
            </a:fld>
            <a:endParaRPr lang="en-CA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8668F3F-B8EE-5207-5981-E210D73B0E56}"/>
              </a:ext>
            </a:extLst>
          </p:cNvPr>
          <p:cNvGrpSpPr/>
          <p:nvPr/>
        </p:nvGrpSpPr>
        <p:grpSpPr>
          <a:xfrm>
            <a:off x="260060" y="5645084"/>
            <a:ext cx="3716323" cy="578840"/>
            <a:chOff x="176170" y="5462522"/>
            <a:chExt cx="3716323" cy="578840"/>
          </a:xfrm>
        </p:grpSpPr>
        <p:pic>
          <p:nvPicPr>
            <p:cNvPr id="1026" name="Picture 2" descr="LinkedIn icon Logo PNG Transparent &amp; SVG Vector - Freebie Supply">
              <a:extLst>
                <a:ext uri="{FF2B5EF4-FFF2-40B4-BE49-F238E27FC236}">
                  <a16:creationId xmlns:a16="http://schemas.microsoft.com/office/drawing/2014/main" id="{D390E6B4-2940-AF76-D287-936978C8B6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170" y="5462522"/>
              <a:ext cx="578840" cy="5788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5A4436B-3AA9-A90D-4EE7-A6419B7F0BA1}"/>
                </a:ext>
              </a:extLst>
            </p:cNvPr>
            <p:cNvSpPr txBox="1"/>
            <p:nvPr/>
          </p:nvSpPr>
          <p:spPr>
            <a:xfrm>
              <a:off x="755010" y="5567276"/>
              <a:ext cx="31374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in/</a:t>
              </a:r>
              <a:r>
                <a:rPr lang="en-CA" dirty="0" err="1"/>
                <a:t>yokudak</a:t>
              </a:r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1705735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1C97D-A84B-B0C3-FBEC-5F351F771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3FB2D-5559-FF8E-9399-67927914F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2</a:t>
            </a:fld>
            <a:endParaRPr lang="en-CA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2602555-F6A5-58C8-B613-7B9AA9C71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80" y="279279"/>
            <a:ext cx="7357336" cy="151618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Is publishing high all about who you know?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28598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1C97D-A84B-B0C3-FBEC-5F351F771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3FB2D-5559-FF8E-9399-67927914F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3</a:t>
            </a:fld>
            <a:endParaRPr lang="en-CA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2602555-F6A5-58C8-B613-7B9AA9C71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86" y="0"/>
            <a:ext cx="7357336" cy="15161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Defining Target Variable</a:t>
            </a:r>
          </a:p>
        </p:txBody>
      </p:sp>
    </p:spTree>
    <p:extLst>
      <p:ext uri="{BB962C8B-B14F-4D97-AF65-F5344CB8AC3E}">
        <p14:creationId xmlns:p14="http://schemas.microsoft.com/office/powerpoint/2010/main" val="3147599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1C97D-A84B-B0C3-FBEC-5F351F771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3FB2D-5559-FF8E-9399-67927914F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4</a:t>
            </a:fld>
            <a:endParaRPr lang="en-CA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2602555-F6A5-58C8-B613-7B9AA9C71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86" y="0"/>
            <a:ext cx="7357336" cy="15161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Cleaning Overview</a:t>
            </a:r>
          </a:p>
        </p:txBody>
      </p:sp>
    </p:spTree>
    <p:extLst>
      <p:ext uri="{BB962C8B-B14F-4D97-AF65-F5344CB8AC3E}">
        <p14:creationId xmlns:p14="http://schemas.microsoft.com/office/powerpoint/2010/main" val="3290701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36F44-0E2B-08BE-B698-4861DE2ED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4" y="1516186"/>
            <a:ext cx="6457022" cy="816468"/>
          </a:xfrm>
        </p:spPr>
        <p:txBody>
          <a:bodyPr/>
          <a:lstStyle/>
          <a:p>
            <a:r>
              <a:rPr lang="en-CA" dirty="0"/>
              <a:t>Sort observations into three tiers according to </a:t>
            </a:r>
            <a:r>
              <a:rPr lang="en-CA" i="1" dirty="0"/>
              <a:t>H index</a:t>
            </a:r>
          </a:p>
          <a:p>
            <a:r>
              <a:rPr lang="en-CA" dirty="0"/>
              <a:t>Higher Tier </a:t>
            </a:r>
            <a:r>
              <a:rPr lang="en-CA" dirty="0">
                <a:sym typeface="Wingdings" panose="05000000000000000000" pitchFamily="2" charset="2"/>
              </a:rPr>
              <a:t> Higher Publication Prestige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02211-722C-C888-3843-2BB8F1314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5</a:t>
            </a:fld>
            <a:endParaRPr lang="en-CA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304593-A276-8C2A-E986-D9A14769B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86" y="0"/>
            <a:ext cx="7357336" cy="15161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Defining Target Variable</a:t>
            </a:r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BAE41C1C-C36D-4445-0E7D-F6674D524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598" y="3020681"/>
            <a:ext cx="5891349" cy="267788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8696B2F-B095-9D5B-C77E-2A076DBA4CFE}"/>
              </a:ext>
            </a:extLst>
          </p:cNvPr>
          <p:cNvGrpSpPr/>
          <p:nvPr/>
        </p:nvGrpSpPr>
        <p:grpSpPr>
          <a:xfrm>
            <a:off x="6391470" y="3946537"/>
            <a:ext cx="3306471" cy="826173"/>
            <a:chOff x="5467739" y="3020681"/>
            <a:chExt cx="3306471" cy="82617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CEEC701-A7DE-7790-BF70-64497ADE9EB1}"/>
                </a:ext>
              </a:extLst>
            </p:cNvPr>
            <p:cNvSpPr txBox="1"/>
            <p:nvPr/>
          </p:nvSpPr>
          <p:spPr>
            <a:xfrm>
              <a:off x="5467739" y="3200523"/>
              <a:ext cx="26063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b="1" dirty="0"/>
                <a:t>Uniform distribution of observations</a:t>
              </a:r>
              <a:endParaRPr lang="en-CA" sz="2800" b="1" dirty="0"/>
            </a:p>
          </p:txBody>
        </p:sp>
        <p:pic>
          <p:nvPicPr>
            <p:cNvPr id="2050" name="Picture 2" descr="Free Check Mark Clip Art - Cliparts.co">
              <a:extLst>
                <a:ext uri="{FF2B5EF4-FFF2-40B4-BE49-F238E27FC236}">
                  <a16:creationId xmlns:a16="http://schemas.microsoft.com/office/drawing/2014/main" id="{2C00E349-871A-97E4-FB4B-B17EC5F7B1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3054" y="3020681"/>
              <a:ext cx="911156" cy="8166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785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36F44-0E2B-08BE-B698-4861DE2ED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4" y="1516186"/>
            <a:ext cx="6457022" cy="816468"/>
          </a:xfrm>
        </p:spPr>
        <p:txBody>
          <a:bodyPr/>
          <a:lstStyle/>
          <a:p>
            <a:r>
              <a:rPr lang="en-CA" dirty="0"/>
              <a:t>Sort observations into three tiers according to </a:t>
            </a:r>
            <a:r>
              <a:rPr lang="en-CA" i="1" dirty="0"/>
              <a:t>H index</a:t>
            </a:r>
          </a:p>
          <a:p>
            <a:r>
              <a:rPr lang="en-CA" dirty="0"/>
              <a:t>Higher Tier </a:t>
            </a:r>
            <a:r>
              <a:rPr lang="en-CA" dirty="0">
                <a:sym typeface="Wingdings" panose="05000000000000000000" pitchFamily="2" charset="2"/>
              </a:rPr>
              <a:t> Higher Publication Prestige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02211-722C-C888-3843-2BB8F1314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6</a:t>
            </a:fld>
            <a:endParaRPr lang="en-CA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304593-A276-8C2A-E986-D9A14769B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86" y="0"/>
            <a:ext cx="7357336" cy="15161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Defining Target Variable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E41C1C-C36D-4445-0E7D-F6674D524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701" y="2505670"/>
            <a:ext cx="5891349" cy="26778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61E669-9A43-74CB-C11C-F33953AC67E2}"/>
              </a:ext>
            </a:extLst>
          </p:cNvPr>
          <p:cNvSpPr txBox="1"/>
          <p:nvPr/>
        </p:nvSpPr>
        <p:spPr>
          <a:xfrm>
            <a:off x="6164087" y="2274952"/>
            <a:ext cx="33980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u="sng" dirty="0"/>
              <a:t>Findings </a:t>
            </a:r>
          </a:p>
          <a:p>
            <a:pPr algn="ctr"/>
            <a:endParaRPr lang="en-CA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Tiers have overlapping ranges, </a:t>
            </a:r>
            <a:r>
              <a:rPr lang="en-CA" b="1" i="1" dirty="0"/>
              <a:t>could lead to classification issues </a:t>
            </a:r>
            <a:r>
              <a:rPr lang="en-CA" dirty="0"/>
              <a:t>later on.</a:t>
            </a:r>
          </a:p>
          <a:p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Median &amp; IQR increase with Tier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C078529-F6EB-4ED1-E2A7-1F1BA16A66AE}"/>
              </a:ext>
            </a:extLst>
          </p:cNvPr>
          <p:cNvGrpSpPr/>
          <p:nvPr/>
        </p:nvGrpSpPr>
        <p:grpSpPr>
          <a:xfrm>
            <a:off x="648478" y="4114885"/>
            <a:ext cx="3317033" cy="1691714"/>
            <a:chOff x="648478" y="4114885"/>
            <a:chExt cx="3317033" cy="169171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073671E-664C-F88D-E1CF-0508932CF1BE}"/>
                </a:ext>
              </a:extLst>
            </p:cNvPr>
            <p:cNvSpPr/>
            <p:nvPr/>
          </p:nvSpPr>
          <p:spPr>
            <a:xfrm>
              <a:off x="2453950" y="4114885"/>
              <a:ext cx="830425" cy="382555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986C0E7-B6E9-B84A-5168-A1075429A378}"/>
                </a:ext>
              </a:extLst>
            </p:cNvPr>
            <p:cNvSpPr txBox="1"/>
            <p:nvPr/>
          </p:nvSpPr>
          <p:spPr>
            <a:xfrm>
              <a:off x="648478" y="5160268"/>
              <a:ext cx="331703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dirty="0">
                  <a:solidFill>
                    <a:srgbClr val="FF0000"/>
                  </a:solidFill>
                </a:rPr>
                <a:t>Example: Outlier could be better classified in Tier 2?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41DCCA0-B908-7603-E9B4-66D70D8E7073}"/>
                </a:ext>
              </a:extLst>
            </p:cNvPr>
            <p:cNvCxnSpPr>
              <a:endCxn id="6" idx="4"/>
            </p:cNvCxnSpPr>
            <p:nvPr/>
          </p:nvCxnSpPr>
          <p:spPr>
            <a:xfrm flipV="1">
              <a:off x="2052735" y="4497440"/>
              <a:ext cx="816428" cy="66282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F986E21-5B44-ECC7-FE06-13E936F77087}"/>
              </a:ext>
            </a:extLst>
          </p:cNvPr>
          <p:cNvSpPr txBox="1"/>
          <p:nvPr/>
        </p:nvSpPr>
        <p:spPr>
          <a:xfrm>
            <a:off x="3965511" y="5207048"/>
            <a:ext cx="54417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002060"/>
                </a:solidFill>
              </a:rPr>
              <a:t>As Tier Level ↑ Variation in Data ↑</a:t>
            </a:r>
          </a:p>
          <a:p>
            <a:endParaRPr lang="en-CA" dirty="0">
              <a:solidFill>
                <a:srgbClr val="002060"/>
              </a:solidFill>
            </a:endParaRPr>
          </a:p>
          <a:p>
            <a:r>
              <a:rPr lang="en-CA" dirty="0">
                <a:solidFill>
                  <a:srgbClr val="002060"/>
                </a:solidFill>
              </a:rPr>
              <a:t>Mismatch Variation </a:t>
            </a:r>
            <a:r>
              <a:rPr lang="en-CA" dirty="0">
                <a:solidFill>
                  <a:srgbClr val="002060"/>
                </a:solidFill>
                <a:sym typeface="Wingdings" panose="05000000000000000000" pitchFamily="2" charset="2"/>
              </a:rPr>
              <a:t></a:t>
            </a:r>
            <a:r>
              <a:rPr lang="en-CA" dirty="0">
                <a:solidFill>
                  <a:srgbClr val="002060"/>
                </a:solidFill>
              </a:rPr>
              <a:t> More Classification issues  </a:t>
            </a:r>
          </a:p>
        </p:txBody>
      </p:sp>
    </p:spTree>
    <p:extLst>
      <p:ext uri="{BB962C8B-B14F-4D97-AF65-F5344CB8AC3E}">
        <p14:creationId xmlns:p14="http://schemas.microsoft.com/office/powerpoint/2010/main" val="379883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3693-1A79-34B5-944C-B789F8A7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86" y="0"/>
            <a:ext cx="7357336" cy="15161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Evaluating Models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0E39E65-E39F-5C91-10B6-D5DD43AD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7</a:t>
            </a:fld>
            <a:endParaRPr lang="en-CA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991618-05D0-F0AE-A79F-5CA7FBCB5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4" y="1801411"/>
            <a:ext cx="8596668" cy="3880773"/>
          </a:xfrm>
        </p:spPr>
        <p:txBody>
          <a:bodyPr/>
          <a:lstStyle/>
          <a:p>
            <a:r>
              <a:rPr lang="en-CA" b="1" dirty="0"/>
              <a:t>Goal: </a:t>
            </a:r>
            <a:r>
              <a:rPr lang="en-CA" dirty="0"/>
              <a:t>Classify Publication Entries into 3 Tiers of Prestige, using only metrics of the authors.</a:t>
            </a:r>
          </a:p>
          <a:p>
            <a:r>
              <a:rPr lang="en-CA" b="1" dirty="0"/>
              <a:t>Scoring Function: </a:t>
            </a:r>
            <a:r>
              <a:rPr lang="en-CA" dirty="0"/>
              <a:t>Average of Accuracy and Weighted Precision</a:t>
            </a:r>
          </a:p>
          <a:p>
            <a:pPr lvl="1"/>
            <a:r>
              <a:rPr lang="en-CA" dirty="0"/>
              <a:t>Want to achieve a accurate classification while also minimizing as much false positives as much as possible.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7935C5-4E43-5F1C-2975-6FB47D9BF7D4}"/>
              </a:ext>
            </a:extLst>
          </p:cNvPr>
          <p:cNvGrpSpPr/>
          <p:nvPr/>
        </p:nvGrpSpPr>
        <p:grpSpPr>
          <a:xfrm>
            <a:off x="819308" y="4163565"/>
            <a:ext cx="8270905" cy="2034677"/>
            <a:chOff x="819308" y="4163565"/>
            <a:chExt cx="8270905" cy="203467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62CC3E6-6E4F-9AA2-14B3-8BFB9E9DE9C3}"/>
                </a:ext>
              </a:extLst>
            </p:cNvPr>
            <p:cNvGrpSpPr/>
            <p:nvPr/>
          </p:nvGrpSpPr>
          <p:grpSpPr>
            <a:xfrm>
              <a:off x="819308" y="4163565"/>
              <a:ext cx="8270905" cy="1437936"/>
              <a:chOff x="442789" y="3684494"/>
              <a:chExt cx="9149446" cy="1590675"/>
            </a:xfrm>
          </p:grpSpPr>
          <p:pic>
            <p:nvPicPr>
              <p:cNvPr id="3074" name="Picture 2">
                <a:extLst>
                  <a:ext uri="{FF2B5EF4-FFF2-40B4-BE49-F238E27FC236}">
                    <a16:creationId xmlns:a16="http://schemas.microsoft.com/office/drawing/2014/main" id="{1057B144-E554-EE9C-E366-2173BEBA3B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0158" y="3938494"/>
                <a:ext cx="8734178" cy="10826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80BF9D-F20C-69A4-9A34-8219D7573100}"/>
                  </a:ext>
                </a:extLst>
              </p:cNvPr>
              <p:cNvSpPr/>
              <p:nvPr/>
            </p:nvSpPr>
            <p:spPr>
              <a:xfrm>
                <a:off x="442789" y="3684494"/>
                <a:ext cx="9149446" cy="1590675"/>
              </a:xfrm>
              <a:prstGeom prst="rect">
                <a:avLst/>
              </a:prstGeom>
              <a:noFill/>
              <a:ln w="571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51D7D6-877F-1786-760B-4150DE03BDFB}"/>
                </a:ext>
              </a:extLst>
            </p:cNvPr>
            <p:cNvSpPr txBox="1"/>
            <p:nvPr/>
          </p:nvSpPr>
          <p:spPr>
            <a:xfrm>
              <a:off x="2617693" y="5736577"/>
              <a:ext cx="441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400" dirty="0">
                  <a:solidFill>
                    <a:srgbClr val="0070C0"/>
                  </a:solidFill>
                </a:rPr>
                <a:t>“Custom Score”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3425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3693-1A79-34B5-944C-B789F8A7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86" y="0"/>
            <a:ext cx="7357336" cy="15161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Evaluating Models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0E39E65-E39F-5C91-10B6-D5DD43AD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8</a:t>
            </a:fld>
            <a:endParaRPr lang="en-CA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991618-05D0-F0AE-A79F-5CA7FBCB5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4" y="1801411"/>
            <a:ext cx="8596668" cy="3880773"/>
          </a:xfrm>
          <a:ln>
            <a:noFill/>
          </a:ln>
        </p:spPr>
        <p:txBody>
          <a:bodyPr/>
          <a:lstStyle/>
          <a:p>
            <a:r>
              <a:rPr lang="en-CA" b="1" dirty="0"/>
              <a:t>Goal: </a:t>
            </a:r>
            <a:r>
              <a:rPr lang="en-CA" dirty="0"/>
              <a:t>Classify Publication Entries into 3 Tiers of Prestige, using only metrics of the authors.</a:t>
            </a:r>
          </a:p>
          <a:p>
            <a:r>
              <a:rPr lang="en-CA" b="1" dirty="0"/>
              <a:t>Scoring Function: </a:t>
            </a:r>
            <a:r>
              <a:rPr lang="en-CA" dirty="0"/>
              <a:t>Average of </a:t>
            </a:r>
            <a:r>
              <a:rPr lang="en-CA" b="1" dirty="0">
                <a:solidFill>
                  <a:srgbClr val="FF0000"/>
                </a:solidFill>
              </a:rPr>
              <a:t>Accuracy</a:t>
            </a:r>
            <a:r>
              <a:rPr lang="en-CA" dirty="0"/>
              <a:t> and Weighted Precision</a:t>
            </a:r>
          </a:p>
          <a:p>
            <a:pPr lvl="1"/>
            <a:r>
              <a:rPr lang="en-CA" dirty="0"/>
              <a:t>Want to achieve a accurate classification while also minimizing as much false positives as much as possible.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7935C5-4E43-5F1C-2975-6FB47D9BF7D4}"/>
              </a:ext>
            </a:extLst>
          </p:cNvPr>
          <p:cNvGrpSpPr/>
          <p:nvPr/>
        </p:nvGrpSpPr>
        <p:grpSpPr>
          <a:xfrm>
            <a:off x="819308" y="4163565"/>
            <a:ext cx="8270905" cy="2034677"/>
            <a:chOff x="819308" y="4163565"/>
            <a:chExt cx="8270905" cy="203467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62CC3E6-6E4F-9AA2-14B3-8BFB9E9DE9C3}"/>
                </a:ext>
              </a:extLst>
            </p:cNvPr>
            <p:cNvGrpSpPr/>
            <p:nvPr/>
          </p:nvGrpSpPr>
          <p:grpSpPr>
            <a:xfrm>
              <a:off x="819308" y="4163565"/>
              <a:ext cx="8270905" cy="1437936"/>
              <a:chOff x="442789" y="3684494"/>
              <a:chExt cx="9149446" cy="1590675"/>
            </a:xfrm>
          </p:grpSpPr>
          <p:pic>
            <p:nvPicPr>
              <p:cNvPr id="3074" name="Picture 2">
                <a:extLst>
                  <a:ext uri="{FF2B5EF4-FFF2-40B4-BE49-F238E27FC236}">
                    <a16:creationId xmlns:a16="http://schemas.microsoft.com/office/drawing/2014/main" id="{1057B144-E554-EE9C-E366-2173BEBA3B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0158" y="3938494"/>
                <a:ext cx="8734178" cy="10826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80BF9D-F20C-69A4-9A34-8219D7573100}"/>
                  </a:ext>
                </a:extLst>
              </p:cNvPr>
              <p:cNvSpPr/>
              <p:nvPr/>
            </p:nvSpPr>
            <p:spPr>
              <a:xfrm>
                <a:off x="442789" y="3684494"/>
                <a:ext cx="9149446" cy="1590675"/>
              </a:xfrm>
              <a:prstGeom prst="rect">
                <a:avLst/>
              </a:prstGeom>
              <a:noFill/>
              <a:ln w="571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51D7D6-877F-1786-760B-4150DE03BDFB}"/>
                </a:ext>
              </a:extLst>
            </p:cNvPr>
            <p:cNvSpPr txBox="1"/>
            <p:nvPr/>
          </p:nvSpPr>
          <p:spPr>
            <a:xfrm>
              <a:off x="2617693" y="5736577"/>
              <a:ext cx="441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400" dirty="0">
                  <a:solidFill>
                    <a:srgbClr val="0070C0"/>
                  </a:solidFill>
                </a:rPr>
                <a:t>“Custom Score”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99D446D-332C-2070-6105-0418A421EFB6}"/>
              </a:ext>
            </a:extLst>
          </p:cNvPr>
          <p:cNvCxnSpPr>
            <a:cxnSpLocks/>
          </p:cNvCxnSpPr>
          <p:nvPr/>
        </p:nvCxnSpPr>
        <p:spPr>
          <a:xfrm flipH="1">
            <a:off x="3442447" y="2823882"/>
            <a:ext cx="806824" cy="16495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655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3693-1A79-34B5-944C-B789F8A7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86" y="0"/>
            <a:ext cx="7357336" cy="15161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Evaluating Models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0E39E65-E39F-5C91-10B6-D5DD43AD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9</a:t>
            </a:fld>
            <a:endParaRPr lang="en-CA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991618-05D0-F0AE-A79F-5CA7FBCB5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64" y="1801411"/>
            <a:ext cx="8596668" cy="3880773"/>
          </a:xfrm>
          <a:ln>
            <a:noFill/>
          </a:ln>
        </p:spPr>
        <p:txBody>
          <a:bodyPr/>
          <a:lstStyle/>
          <a:p>
            <a:r>
              <a:rPr lang="en-CA" b="1" dirty="0"/>
              <a:t>Goal: </a:t>
            </a:r>
            <a:r>
              <a:rPr lang="en-CA" dirty="0"/>
              <a:t>Classify Publication Entries into 3 Tiers of Prestige, using only metrics of the authors.</a:t>
            </a:r>
          </a:p>
          <a:p>
            <a:r>
              <a:rPr lang="en-CA" b="1" dirty="0"/>
              <a:t>Scoring Function: </a:t>
            </a:r>
            <a:r>
              <a:rPr lang="en-CA" dirty="0"/>
              <a:t>Average of </a:t>
            </a:r>
            <a:r>
              <a:rPr lang="en-CA" b="1" dirty="0">
                <a:solidFill>
                  <a:srgbClr val="FF0000"/>
                </a:solidFill>
              </a:rPr>
              <a:t>Accuracy</a:t>
            </a:r>
            <a:r>
              <a:rPr lang="en-CA" dirty="0"/>
              <a:t> and </a:t>
            </a:r>
            <a:r>
              <a:rPr lang="en-CA" b="1" dirty="0">
                <a:solidFill>
                  <a:srgbClr val="FF0000"/>
                </a:solidFill>
              </a:rPr>
              <a:t>Weighted Precision</a:t>
            </a:r>
          </a:p>
          <a:p>
            <a:pPr lvl="1"/>
            <a:r>
              <a:rPr lang="en-CA" dirty="0"/>
              <a:t>Want to achieve a accurate classification while also minimizing as much false positives as much as possible.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7935C5-4E43-5F1C-2975-6FB47D9BF7D4}"/>
              </a:ext>
            </a:extLst>
          </p:cNvPr>
          <p:cNvGrpSpPr/>
          <p:nvPr/>
        </p:nvGrpSpPr>
        <p:grpSpPr>
          <a:xfrm>
            <a:off x="819308" y="4163565"/>
            <a:ext cx="8270905" cy="2034677"/>
            <a:chOff x="819308" y="4163565"/>
            <a:chExt cx="8270905" cy="203467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62CC3E6-6E4F-9AA2-14B3-8BFB9E9DE9C3}"/>
                </a:ext>
              </a:extLst>
            </p:cNvPr>
            <p:cNvGrpSpPr/>
            <p:nvPr/>
          </p:nvGrpSpPr>
          <p:grpSpPr>
            <a:xfrm>
              <a:off x="819308" y="4163565"/>
              <a:ext cx="8270905" cy="1437936"/>
              <a:chOff x="442789" y="3684494"/>
              <a:chExt cx="9149446" cy="1590675"/>
            </a:xfrm>
          </p:grpSpPr>
          <p:pic>
            <p:nvPicPr>
              <p:cNvPr id="3074" name="Picture 2">
                <a:extLst>
                  <a:ext uri="{FF2B5EF4-FFF2-40B4-BE49-F238E27FC236}">
                    <a16:creationId xmlns:a16="http://schemas.microsoft.com/office/drawing/2014/main" id="{1057B144-E554-EE9C-E366-2173BEBA3B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0158" y="3938494"/>
                <a:ext cx="8734178" cy="10826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780BF9D-F20C-69A4-9A34-8219D7573100}"/>
                  </a:ext>
                </a:extLst>
              </p:cNvPr>
              <p:cNvSpPr/>
              <p:nvPr/>
            </p:nvSpPr>
            <p:spPr>
              <a:xfrm>
                <a:off x="442789" y="3684494"/>
                <a:ext cx="9149446" cy="1590675"/>
              </a:xfrm>
              <a:prstGeom prst="rect">
                <a:avLst/>
              </a:prstGeom>
              <a:noFill/>
              <a:ln w="571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51D7D6-877F-1786-760B-4150DE03BDFB}"/>
                </a:ext>
              </a:extLst>
            </p:cNvPr>
            <p:cNvSpPr txBox="1"/>
            <p:nvPr/>
          </p:nvSpPr>
          <p:spPr>
            <a:xfrm>
              <a:off x="2617693" y="5736577"/>
              <a:ext cx="4419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400" dirty="0">
                  <a:solidFill>
                    <a:srgbClr val="0070C0"/>
                  </a:solidFill>
                </a:rPr>
                <a:t>“Custom Score”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99D446D-332C-2070-6105-0418A421EFB6}"/>
              </a:ext>
            </a:extLst>
          </p:cNvPr>
          <p:cNvCxnSpPr>
            <a:cxnSpLocks/>
          </p:cNvCxnSpPr>
          <p:nvPr/>
        </p:nvCxnSpPr>
        <p:spPr>
          <a:xfrm flipH="1">
            <a:off x="3442447" y="2823882"/>
            <a:ext cx="806824" cy="16495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2044B7-7B18-B523-023D-6C585D109FE9}"/>
              </a:ext>
            </a:extLst>
          </p:cNvPr>
          <p:cNvCxnSpPr/>
          <p:nvPr/>
        </p:nvCxnSpPr>
        <p:spPr>
          <a:xfrm>
            <a:off x="6338047" y="2823882"/>
            <a:ext cx="914400" cy="16495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547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3693-1A79-34B5-944C-B789F8A7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86" y="0"/>
            <a:ext cx="7357336" cy="15161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Evaluating Models</a:t>
            </a:r>
          </a:p>
        </p:txBody>
      </p:sp>
      <p:pic>
        <p:nvPicPr>
          <p:cNvPr id="18" name="Picture 17" descr="A picture containing chart&#10;&#10;Description automatically generated">
            <a:extLst>
              <a:ext uri="{FF2B5EF4-FFF2-40B4-BE49-F238E27FC236}">
                <a16:creationId xmlns:a16="http://schemas.microsoft.com/office/drawing/2014/main" id="{B3512374-9F7B-B2E8-0C5A-C35697E51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475" y="1880118"/>
            <a:ext cx="2161359" cy="396357"/>
          </a:xfrm>
          <a:prstGeom prst="rect">
            <a:avLst/>
          </a:prstGeom>
        </p:spPr>
      </p:pic>
      <p:pic>
        <p:nvPicPr>
          <p:cNvPr id="20" name="Picture 19" descr="A picture containing bar chart&#10;&#10;Description automatically generated">
            <a:extLst>
              <a:ext uri="{FF2B5EF4-FFF2-40B4-BE49-F238E27FC236}">
                <a16:creationId xmlns:a16="http://schemas.microsoft.com/office/drawing/2014/main" id="{1DD35B9C-9E4D-5FB5-2DAD-ED946E6E3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50" y="1828790"/>
            <a:ext cx="5029210" cy="502921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D3D6041-190D-6FD1-A24A-E329520E1D6A}"/>
              </a:ext>
            </a:extLst>
          </p:cNvPr>
          <p:cNvSpPr txBox="1"/>
          <p:nvPr/>
        </p:nvSpPr>
        <p:spPr>
          <a:xfrm>
            <a:off x="5228593" y="1520811"/>
            <a:ext cx="444725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u="sng" dirty="0"/>
              <a:t>General Findings</a:t>
            </a:r>
          </a:p>
          <a:p>
            <a:pPr algn="ctr"/>
            <a:endParaRPr lang="en-CA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For any model, accuracy</a:t>
            </a:r>
            <a:r>
              <a:rPr lang="en-CA" sz="2800" b="1" dirty="0"/>
              <a:t> </a:t>
            </a:r>
            <a:r>
              <a:rPr lang="en-CA" sz="2800" dirty="0"/>
              <a:t>or precision </a:t>
            </a:r>
            <a:r>
              <a:rPr lang="en-CA" sz="2800" b="1" dirty="0"/>
              <a:t>could not exceed 56%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Weighted precision and accuracy scores agree with results from Custom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b="1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0E39E65-E39F-5C91-10B6-D5DD43AD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413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3693-1A79-34B5-944C-B789F8A7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86" y="0"/>
            <a:ext cx="7357336" cy="15161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Evaluating Models</a:t>
            </a:r>
          </a:p>
        </p:txBody>
      </p:sp>
      <p:pic>
        <p:nvPicPr>
          <p:cNvPr id="18" name="Picture 17" descr="A picture containing chart&#10;&#10;Description automatically generated">
            <a:extLst>
              <a:ext uri="{FF2B5EF4-FFF2-40B4-BE49-F238E27FC236}">
                <a16:creationId xmlns:a16="http://schemas.microsoft.com/office/drawing/2014/main" id="{B3512374-9F7B-B2E8-0C5A-C35697E51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866" y="1516185"/>
            <a:ext cx="2161359" cy="3963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D35B9C-9E4D-5FB5-2DAD-ED946E6E3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65" y="1851620"/>
            <a:ext cx="4708928" cy="4708928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0E39E65-E39F-5C91-10B6-D5DD43AD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11</a:t>
            </a:fld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0E88D8-0C73-7F42-6C3D-081FA027F947}"/>
              </a:ext>
            </a:extLst>
          </p:cNvPr>
          <p:cNvSpPr txBox="1"/>
          <p:nvPr/>
        </p:nvSpPr>
        <p:spPr>
          <a:xfrm>
            <a:off x="5228593" y="1520811"/>
            <a:ext cx="444725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u="sng" dirty="0"/>
              <a:t>General Findings</a:t>
            </a:r>
          </a:p>
          <a:p>
            <a:pPr algn="ctr"/>
            <a:endParaRPr lang="en-CA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190086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3693-1A79-34B5-944C-B789F8A7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86" y="0"/>
            <a:ext cx="7357336" cy="15161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Evaluating Models</a:t>
            </a:r>
          </a:p>
        </p:txBody>
      </p:sp>
      <p:pic>
        <p:nvPicPr>
          <p:cNvPr id="18" name="Picture 17" descr="A picture containing chart&#10;&#10;Description automatically generated">
            <a:extLst>
              <a:ext uri="{FF2B5EF4-FFF2-40B4-BE49-F238E27FC236}">
                <a16:creationId xmlns:a16="http://schemas.microsoft.com/office/drawing/2014/main" id="{B3512374-9F7B-B2E8-0C5A-C35697E51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866" y="1516185"/>
            <a:ext cx="2161359" cy="3963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D35B9C-9E4D-5FB5-2DAD-ED946E6E3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65" y="1851620"/>
            <a:ext cx="4708928" cy="4708928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0E39E65-E39F-5C91-10B6-D5DD43AD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12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8B7B1-88BC-AF87-500A-070E9ED41D50}"/>
              </a:ext>
            </a:extLst>
          </p:cNvPr>
          <p:cNvSpPr txBox="1"/>
          <p:nvPr/>
        </p:nvSpPr>
        <p:spPr>
          <a:xfrm>
            <a:off x="5228593" y="1520811"/>
            <a:ext cx="444725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u="sng" dirty="0"/>
              <a:t>General Findings</a:t>
            </a:r>
          </a:p>
          <a:p>
            <a:pPr algn="ctr"/>
            <a:endParaRPr lang="en-CA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sz="2800" dirty="0"/>
              <a:t>Most scores are </a:t>
            </a:r>
            <a:r>
              <a:rPr lang="en-CA" sz="2800" i="1" dirty="0"/>
              <a:t>underfitted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4A8325-2BEB-5F9F-E8AF-6AE3846E7C57}"/>
              </a:ext>
            </a:extLst>
          </p:cNvPr>
          <p:cNvCxnSpPr>
            <a:cxnSpLocks/>
          </p:cNvCxnSpPr>
          <p:nvPr/>
        </p:nvCxnSpPr>
        <p:spPr>
          <a:xfrm flipH="1">
            <a:off x="5076827" y="3334871"/>
            <a:ext cx="1019173" cy="17219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099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3693-1A79-34B5-944C-B789F8A7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86" y="0"/>
            <a:ext cx="7357336" cy="15161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Evaluating Models</a:t>
            </a:r>
          </a:p>
        </p:txBody>
      </p:sp>
      <p:pic>
        <p:nvPicPr>
          <p:cNvPr id="18" name="Picture 17" descr="A picture containing chart&#10;&#10;Description automatically generated">
            <a:extLst>
              <a:ext uri="{FF2B5EF4-FFF2-40B4-BE49-F238E27FC236}">
                <a16:creationId xmlns:a16="http://schemas.microsoft.com/office/drawing/2014/main" id="{B3512374-9F7B-B2E8-0C5A-C35697E51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866" y="1516185"/>
            <a:ext cx="2161359" cy="3963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D35B9C-9E4D-5FB5-2DAD-ED946E6E3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65" y="1851620"/>
            <a:ext cx="4708928" cy="4708928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0E39E65-E39F-5C91-10B6-D5DD43AD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13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8B7B1-88BC-AF87-500A-070E9ED41D50}"/>
              </a:ext>
            </a:extLst>
          </p:cNvPr>
          <p:cNvSpPr txBox="1"/>
          <p:nvPr/>
        </p:nvSpPr>
        <p:spPr>
          <a:xfrm>
            <a:off x="5228593" y="1520811"/>
            <a:ext cx="444725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u="sng" dirty="0"/>
              <a:t>General Findings</a:t>
            </a:r>
          </a:p>
          <a:p>
            <a:pPr algn="ctr"/>
            <a:endParaRPr lang="en-CA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sz="2800" dirty="0"/>
              <a:t>Most scores are </a:t>
            </a:r>
            <a:r>
              <a:rPr lang="en-CA" sz="2800" i="1" dirty="0"/>
              <a:t>underfitted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sz="2800" dirty="0"/>
              <a:t>Few Scores are </a:t>
            </a:r>
            <a:r>
              <a:rPr lang="en-CA" sz="2800" i="1" dirty="0"/>
              <a:t>overfitted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b="1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C1EE32C-2F5D-877A-E75B-2872F685465D}"/>
              </a:ext>
            </a:extLst>
          </p:cNvPr>
          <p:cNvCxnSpPr>
            <a:cxnSpLocks/>
          </p:cNvCxnSpPr>
          <p:nvPr/>
        </p:nvCxnSpPr>
        <p:spPr>
          <a:xfrm flipH="1">
            <a:off x="4512050" y="3711388"/>
            <a:ext cx="1458444" cy="10464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276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3693-1A79-34B5-944C-B789F8A7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86" y="0"/>
            <a:ext cx="7357336" cy="15161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Evaluating Models</a:t>
            </a:r>
          </a:p>
        </p:txBody>
      </p:sp>
      <p:pic>
        <p:nvPicPr>
          <p:cNvPr id="18" name="Picture 17" descr="A picture containing chart&#10;&#10;Description automatically generated">
            <a:extLst>
              <a:ext uri="{FF2B5EF4-FFF2-40B4-BE49-F238E27FC236}">
                <a16:creationId xmlns:a16="http://schemas.microsoft.com/office/drawing/2014/main" id="{B3512374-9F7B-B2E8-0C5A-C35697E51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866" y="1516185"/>
            <a:ext cx="2161359" cy="3963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D35B9C-9E4D-5FB5-2DAD-ED946E6E3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65" y="1851620"/>
            <a:ext cx="4708928" cy="4708928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0E39E65-E39F-5C91-10B6-D5DD43AD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14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8B7B1-88BC-AF87-500A-070E9ED41D50}"/>
              </a:ext>
            </a:extLst>
          </p:cNvPr>
          <p:cNvSpPr txBox="1"/>
          <p:nvPr/>
        </p:nvSpPr>
        <p:spPr>
          <a:xfrm>
            <a:off x="5228593" y="1520811"/>
            <a:ext cx="44472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u="sng" dirty="0"/>
              <a:t>General Findings</a:t>
            </a:r>
          </a:p>
          <a:p>
            <a:pPr algn="ctr"/>
            <a:endParaRPr lang="en-CA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sz="2800" dirty="0"/>
              <a:t>Most scores are </a:t>
            </a:r>
            <a:r>
              <a:rPr lang="en-CA" sz="2800" i="1" dirty="0"/>
              <a:t>underfitted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sz="2800" dirty="0"/>
              <a:t>Few Scores are </a:t>
            </a:r>
            <a:r>
              <a:rPr lang="en-CA" sz="2800" i="1" dirty="0"/>
              <a:t>overfitted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CA" sz="2800" b="1" dirty="0"/>
              <a:t>Differences Between Scores are Within 1.05%</a:t>
            </a:r>
            <a:endParaRPr lang="en-CA" sz="2800" b="1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b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E55B57-F6B3-0727-F909-BC77EFD757CB}"/>
              </a:ext>
            </a:extLst>
          </p:cNvPr>
          <p:cNvCxnSpPr>
            <a:cxnSpLocks/>
          </p:cNvCxnSpPr>
          <p:nvPr/>
        </p:nvCxnSpPr>
        <p:spPr>
          <a:xfrm>
            <a:off x="2637793" y="3514165"/>
            <a:ext cx="0" cy="2527197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13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3693-1A79-34B5-944C-B789F8A7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86" y="0"/>
            <a:ext cx="7357336" cy="15161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Evaluating Models</a:t>
            </a:r>
          </a:p>
        </p:txBody>
      </p:sp>
      <p:pic>
        <p:nvPicPr>
          <p:cNvPr id="18" name="Picture 17" descr="A picture containing chart&#10;&#10;Description automatically generated">
            <a:extLst>
              <a:ext uri="{FF2B5EF4-FFF2-40B4-BE49-F238E27FC236}">
                <a16:creationId xmlns:a16="http://schemas.microsoft.com/office/drawing/2014/main" id="{B3512374-9F7B-B2E8-0C5A-C35697E51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475" y="1880118"/>
            <a:ext cx="2161359" cy="396357"/>
          </a:xfrm>
          <a:prstGeom prst="rect">
            <a:avLst/>
          </a:prstGeom>
        </p:spPr>
      </p:pic>
      <p:pic>
        <p:nvPicPr>
          <p:cNvPr id="20" name="Picture 19" descr="A picture containing bar chart&#10;&#10;Description automatically generated">
            <a:extLst>
              <a:ext uri="{FF2B5EF4-FFF2-40B4-BE49-F238E27FC236}">
                <a16:creationId xmlns:a16="http://schemas.microsoft.com/office/drawing/2014/main" id="{1DD35B9C-9E4D-5FB5-2DAD-ED946E6E3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50" y="1828790"/>
            <a:ext cx="5029210" cy="502921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D3D6041-190D-6FD1-A24A-E329520E1D6A}"/>
              </a:ext>
            </a:extLst>
          </p:cNvPr>
          <p:cNvSpPr txBox="1"/>
          <p:nvPr/>
        </p:nvSpPr>
        <p:spPr>
          <a:xfrm>
            <a:off x="5228593" y="1520811"/>
            <a:ext cx="4447252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u="sng" dirty="0"/>
              <a:t>General Findings</a:t>
            </a:r>
          </a:p>
          <a:p>
            <a:pPr algn="ctr"/>
            <a:endParaRPr lang="en-CA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For any model, accuracy</a:t>
            </a:r>
            <a:r>
              <a:rPr lang="en-CA" sz="2800" b="1" dirty="0"/>
              <a:t> </a:t>
            </a:r>
            <a:r>
              <a:rPr lang="en-CA" sz="2800" dirty="0"/>
              <a:t>or precision </a:t>
            </a:r>
            <a:r>
              <a:rPr lang="en-CA" sz="2800" b="1" dirty="0"/>
              <a:t>could not exceed 56%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CA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Weighted precision and accuracy scores agree with results from Custom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b="1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0E39E65-E39F-5C91-10B6-D5DD43AD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2627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3693-1A79-34B5-944C-B789F8A7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86" y="0"/>
            <a:ext cx="7357336" cy="15161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Evaluating Models</a:t>
            </a:r>
          </a:p>
        </p:txBody>
      </p:sp>
      <p:pic>
        <p:nvPicPr>
          <p:cNvPr id="18" name="Picture 17" descr="A picture containing chart&#10;&#10;Description automatically generated">
            <a:extLst>
              <a:ext uri="{FF2B5EF4-FFF2-40B4-BE49-F238E27FC236}">
                <a16:creationId xmlns:a16="http://schemas.microsoft.com/office/drawing/2014/main" id="{B3512374-9F7B-B2E8-0C5A-C35697E51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475" y="1880118"/>
            <a:ext cx="2161359" cy="3963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D35B9C-9E4D-5FB5-2DAD-ED946E6E3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350" y="1828790"/>
            <a:ext cx="5029210" cy="502921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D3D6041-190D-6FD1-A24A-E329520E1D6A}"/>
              </a:ext>
            </a:extLst>
          </p:cNvPr>
          <p:cNvSpPr txBox="1"/>
          <p:nvPr/>
        </p:nvSpPr>
        <p:spPr>
          <a:xfrm>
            <a:off x="5228593" y="1520811"/>
            <a:ext cx="44472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u="sng" dirty="0"/>
              <a:t>General Findings</a:t>
            </a:r>
          </a:p>
          <a:p>
            <a:pPr algn="ctr"/>
            <a:endParaRPr lang="en-CA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800" dirty="0"/>
              <a:t>Decision Tree &amp; Random Forest outperformed Logistic Regression &amp; KNN.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800" dirty="0"/>
              <a:t>Relationships between entries is likely </a:t>
            </a:r>
            <a:r>
              <a:rPr lang="en-CA" sz="2800" i="1" dirty="0"/>
              <a:t>non-linear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CA72C5-DFB9-DCF6-E0FC-A17C37152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077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3693-1A79-34B5-944C-B789F8A7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86" y="0"/>
            <a:ext cx="7357336" cy="15161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Evaluating Models</a:t>
            </a:r>
          </a:p>
        </p:txBody>
      </p:sp>
      <p:pic>
        <p:nvPicPr>
          <p:cNvPr id="18" name="Picture 17" descr="A picture containing chart&#10;&#10;Description automatically generated">
            <a:extLst>
              <a:ext uri="{FF2B5EF4-FFF2-40B4-BE49-F238E27FC236}">
                <a16:creationId xmlns:a16="http://schemas.microsoft.com/office/drawing/2014/main" id="{B3512374-9F7B-B2E8-0C5A-C35697E51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475" y="1880118"/>
            <a:ext cx="2161359" cy="3963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D35B9C-9E4D-5FB5-2DAD-ED946E6E3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2350" y="1828790"/>
            <a:ext cx="5029210" cy="502921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D3D6041-190D-6FD1-A24A-E329520E1D6A}"/>
              </a:ext>
            </a:extLst>
          </p:cNvPr>
          <p:cNvSpPr txBox="1"/>
          <p:nvPr/>
        </p:nvSpPr>
        <p:spPr>
          <a:xfrm>
            <a:off x="5228593" y="1520811"/>
            <a:ext cx="444725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u="sng" dirty="0"/>
              <a:t>General Findings</a:t>
            </a:r>
          </a:p>
          <a:p>
            <a:pPr algn="ctr"/>
            <a:endParaRPr lang="en-CA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800" dirty="0"/>
              <a:t>Random Forest has higher accuracy than Decision Trees between 0.96-3.7%.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800" dirty="0"/>
              <a:t>Improved accuracy likely due to reduced outlier sensitivity.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CA72C5-DFB9-DCF6-E0FC-A17C37152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17</a:t>
            </a:fld>
            <a:endParaRPr lang="en-CA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5CDF026-E2C8-DE34-9CD5-116D3716BACE}"/>
              </a:ext>
            </a:extLst>
          </p:cNvPr>
          <p:cNvCxnSpPr/>
          <p:nvPr/>
        </p:nvCxnSpPr>
        <p:spPr>
          <a:xfrm>
            <a:off x="1744910" y="3112316"/>
            <a:ext cx="0" cy="292904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24D7DEE-428E-0930-A467-B20038F5E820}"/>
              </a:ext>
            </a:extLst>
          </p:cNvPr>
          <p:cNvSpPr txBox="1"/>
          <p:nvPr/>
        </p:nvSpPr>
        <p:spPr>
          <a:xfrm>
            <a:off x="1073791" y="4068661"/>
            <a:ext cx="671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3.7%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5FBEFF-B50B-0806-419C-AD3B907A7961}"/>
              </a:ext>
            </a:extLst>
          </p:cNvPr>
          <p:cNvCxnSpPr>
            <a:cxnSpLocks/>
          </p:cNvCxnSpPr>
          <p:nvPr/>
        </p:nvCxnSpPr>
        <p:spPr>
          <a:xfrm>
            <a:off x="3071769" y="3290526"/>
            <a:ext cx="0" cy="82889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457947-3E70-76E2-FF48-75B47A3F7989}"/>
              </a:ext>
            </a:extLst>
          </p:cNvPr>
          <p:cNvCxnSpPr>
            <a:cxnSpLocks/>
          </p:cNvCxnSpPr>
          <p:nvPr/>
        </p:nvCxnSpPr>
        <p:spPr>
          <a:xfrm>
            <a:off x="4414007" y="3197713"/>
            <a:ext cx="0" cy="186252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9E8B56-DD6E-3DA8-DFA7-5F4E180FECF4}"/>
              </a:ext>
            </a:extLst>
          </p:cNvPr>
          <p:cNvSpPr txBox="1"/>
          <p:nvPr/>
        </p:nvSpPr>
        <p:spPr>
          <a:xfrm>
            <a:off x="2331346" y="3437615"/>
            <a:ext cx="83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0.96%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C278DE-CCAD-11C4-6AF9-04132D4E4ADC}"/>
              </a:ext>
            </a:extLst>
          </p:cNvPr>
          <p:cNvSpPr txBox="1"/>
          <p:nvPr/>
        </p:nvSpPr>
        <p:spPr>
          <a:xfrm>
            <a:off x="3726281" y="4051883"/>
            <a:ext cx="83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2.3%</a:t>
            </a:r>
          </a:p>
        </p:txBody>
      </p:sp>
    </p:spTree>
    <p:extLst>
      <p:ext uri="{BB962C8B-B14F-4D97-AF65-F5344CB8AC3E}">
        <p14:creationId xmlns:p14="http://schemas.microsoft.com/office/powerpoint/2010/main" val="3122938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C75D85-F352-38EB-5CAE-03D7064D8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C90D1-AD4B-442F-A893-0023CEF97D6F}" type="slidenum">
              <a:rPr lang="en-CA" smtClean="0"/>
              <a:t>18</a:t>
            </a:fld>
            <a:endParaRPr lang="en-CA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905FE1E-A8D3-7A58-C7AD-C340A041EC9C}"/>
              </a:ext>
            </a:extLst>
          </p:cNvPr>
          <p:cNvSpPr txBox="1">
            <a:spLocks/>
          </p:cNvSpPr>
          <p:nvPr/>
        </p:nvSpPr>
        <p:spPr>
          <a:xfrm>
            <a:off x="186486" y="0"/>
            <a:ext cx="7357336" cy="15161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dirty="0">
                <a:solidFill>
                  <a:schemeClr val="tx1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71360790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397</TotalTime>
  <Words>438</Words>
  <Application>Microsoft Office PowerPoint</Application>
  <PresentationFormat>Widescreen</PresentationFormat>
  <Paragraphs>100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Trebuchet MS</vt:lpstr>
      <vt:lpstr>Wingdings 3</vt:lpstr>
      <vt:lpstr>Facet</vt:lpstr>
      <vt:lpstr>Professor Power Index</vt:lpstr>
      <vt:lpstr>Is publishing high all about who you know?</vt:lpstr>
      <vt:lpstr>Defining Target Variable</vt:lpstr>
      <vt:lpstr>Data Cleaning Overview</vt:lpstr>
      <vt:lpstr>Defining Target Variable</vt:lpstr>
      <vt:lpstr>Defining Target Variable</vt:lpstr>
      <vt:lpstr>Evaluating Models</vt:lpstr>
      <vt:lpstr>Evaluating Models</vt:lpstr>
      <vt:lpstr>Evaluating Models</vt:lpstr>
      <vt:lpstr>Evaluating Models</vt:lpstr>
      <vt:lpstr>Evaluating Models</vt:lpstr>
      <vt:lpstr>Evaluating Models</vt:lpstr>
      <vt:lpstr>Evaluating Models</vt:lpstr>
      <vt:lpstr>Evaluating Models</vt:lpstr>
      <vt:lpstr>Evaluating Models</vt:lpstr>
      <vt:lpstr>Evaluating Models</vt:lpstr>
      <vt:lpstr>Evaluating Models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Austin Bray</dc:creator>
  <cp:lastModifiedBy>Austin Bray</cp:lastModifiedBy>
  <cp:revision>29</cp:revision>
  <dcterms:created xsi:type="dcterms:W3CDTF">2023-04-10T18:29:09Z</dcterms:created>
  <dcterms:modified xsi:type="dcterms:W3CDTF">2023-04-11T02:09:09Z</dcterms:modified>
</cp:coreProperties>
</file>